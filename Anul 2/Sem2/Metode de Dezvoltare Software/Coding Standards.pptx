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6" r:id="rId1"/>
  </p:sldMasterIdLst>
  <p:notesMasterIdLst>
    <p:notesMasterId r:id="rId18"/>
  </p:notesMasterIdLst>
  <p:sldIdLst>
    <p:sldId id="256" r:id="rId2"/>
    <p:sldId id="262" r:id="rId3"/>
    <p:sldId id="263" r:id="rId4"/>
    <p:sldId id="265" r:id="rId5"/>
    <p:sldId id="266" r:id="rId6"/>
    <p:sldId id="267" r:id="rId7"/>
    <p:sldId id="268" r:id="rId8"/>
    <p:sldId id="269" r:id="rId9"/>
    <p:sldId id="273" r:id="rId10"/>
    <p:sldId id="272" r:id="rId11"/>
    <p:sldId id="258" r:id="rId12"/>
    <p:sldId id="257" r:id="rId13"/>
    <p:sldId id="259" r:id="rId14"/>
    <p:sldId id="260" r:id="rId15"/>
    <p:sldId id="261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4F131-7616-478E-A3F3-8BDCDF3AED80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A2F09-B901-4C5D-A015-71AAC4B9E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19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A2F09-B901-4C5D-A015-71AAC4B9EF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63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BA31-C585-4E65-FE3E-2A570A54D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7C9A3-1E1D-EBFA-FCEE-D5A88B255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BB47F-9A52-DC67-3D4C-1CF06419D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EECE3-146E-71E0-3B96-7CAC783AB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A2F09-B901-4C5D-A015-71AAC4B9EF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77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BD73-5E62-41CB-AD11-3C5DB8A8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D4FFE-012F-E47D-8595-D00774932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96A25-A771-E871-B0CE-940437A53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7BDF6-7D51-C15E-0ED7-540F8DE97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A2F09-B901-4C5D-A015-71AAC4B9EF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2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6B71F-AEF0-55AC-2B16-4EEF86BE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D6511-B25E-ED6D-755C-BCD792241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27C23-8038-0131-1218-899E68750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BBA1C-E9B1-BF3C-6388-67A46C4CA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A2F09-B901-4C5D-A015-71AAC4B9EF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37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20EB5-1FE0-AD5E-F1D9-B9FF5CE2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0981B-90CF-CADF-08EF-B52C00516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1368D-18C9-8E3C-6239-E91D8DCE6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0C1FF-46C8-DDB6-7921-01160F52A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A2F09-B901-4C5D-A015-71AAC4B9EF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0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F6927-E65A-7898-CB03-69CA4DFE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8B3C2-74C0-95CF-DFD6-A93928F1F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07815-D048-E671-7721-48B3F8FBB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6AF73-2975-6140-F519-928984D48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A2F09-B901-4C5D-A015-71AAC4B9EF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4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A355-E40D-C972-B23B-1EBC97687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84501-56D4-0252-0094-CEC90B21A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76EFF-EF6B-F252-C44D-CD5426EA7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D04CA-9C12-B983-9F81-D765C9E53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A2F09-B901-4C5D-A015-71AAC4B9EF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66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A2F09-B901-4C5D-A015-71AAC4B9EFB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2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32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84349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427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269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7021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911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92196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42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31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0681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735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58F4E49E-0C77-4B7C-BCE1-91EEFD990298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7DEFA1EF-98EF-406B-841A-2A47AC649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3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github.io/styleguide/pyguide.html" TargetMode="External"/><Relationship Id="rId2" Type="http://schemas.openxmlformats.org/officeDocument/2006/relationships/hyperlink" Target="https://peps.python.org/pep-0008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.github.io/styleguide/csharp-style.html#exampl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6369-4F1E-9EFC-661B-4D6A9A5DB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Coding standards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2B3C7-36DC-F8C2-680C-A334FED1EE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80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874A-9D43-AC10-4875-289B88AB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25DE7-3D05-438D-50A5-B90BF87D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DC282-44FA-50F5-8601-6154540E4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EF6872-237F-8443-35F9-FE1783DC5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519" y="535710"/>
            <a:ext cx="4401962" cy="483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15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F3B4C-F417-8BE8-F251-6D542DE9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3441-C271-C8F1-B5AA-D2A5F3CC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Python -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Naming Conventions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E8D88-A920-234F-33E3-3C40D3DE5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185" y="738021"/>
            <a:ext cx="7479757" cy="567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6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276-CBC0-4120-3E83-984BE45D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332D-1B43-0AD6-47EB-3C108F113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Python -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Indentation and Whitespace</a:t>
            </a:r>
            <a:endParaRPr lang="en-US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E98028-9024-FC1F-1D0A-FE0486673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035" y="780799"/>
            <a:ext cx="9639300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0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AA1D3-304D-95B7-CC96-56575A29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82B5-4612-D84E-8FD3-393402AF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Python -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Line Length and Breaking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D4544-EE1C-B3B5-1006-3727EE76D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5" y="1414462"/>
            <a:ext cx="95440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50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5D46-B78F-9E58-0D2E-1840F43F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7EF00-4722-4528-9362-50F663EF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Python - </a:t>
            </a:r>
            <a:r>
              <a:rPr lang="en-US" sz="3600" dirty="0">
                <a:solidFill>
                  <a:srgbClr val="242424"/>
                </a:solidFill>
                <a:latin typeface="sohne"/>
              </a:rPr>
              <a:t>Imports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1073AB-5DAC-361F-2036-CBB1AEB79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6" y="810878"/>
            <a:ext cx="963930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718E-4DC7-976D-6985-256925126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351D-4E98-DBBA-8865-80B36961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Python -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Comments and Docstrings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C22249-7928-B3A2-F716-661B9F75B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92" y="1157287"/>
            <a:ext cx="956310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5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7778-8CAF-B222-CF9A-D2D66D99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232E-5C8D-4758-6347-3FB3248A3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Python -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Function and Method Design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0ABD6-2EE9-1476-228A-4C3B93C05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2" y="1557337"/>
            <a:ext cx="95535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66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A29C4-9031-6812-CB3B-BDDF4E20B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569DB-3609-DB36-B73C-7EAEBB08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Python –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Zen of Python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D4129-95B9-A1C5-CDA5-4B20F0536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819150"/>
            <a:ext cx="81534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2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D83EA-4891-947D-0B8C-0DE1916F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3C88-8716-34E7-DE4D-786853A3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954" y="3299373"/>
            <a:ext cx="9692640" cy="15827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best coding practice standard for Python is </a:t>
            </a:r>
            <a:r>
              <a:rPr lang="en-US" dirty="0">
                <a:hlinkClick r:id="rId2"/>
              </a:rPr>
              <a:t>PEP 8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more structure </a:t>
            </a:r>
            <a:r>
              <a:rPr lang="en-US" dirty="0">
                <a:hlinkClick r:id="rId3"/>
              </a:rPr>
              <a:t>Google standard </a:t>
            </a:r>
            <a:r>
              <a:rPr lang="en-US" dirty="0"/>
              <a:t>is a good one but pretty stuffy</a:t>
            </a:r>
          </a:p>
        </p:txBody>
      </p:sp>
    </p:spTree>
    <p:extLst>
      <p:ext uri="{BB962C8B-B14F-4D97-AF65-F5344CB8AC3E}">
        <p14:creationId xmlns:p14="http://schemas.microsoft.com/office/powerpoint/2010/main" val="2656304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9927-187A-AD57-67E0-35CB56FA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48BF9-DBB4-92D7-C8B2-1B0C197AD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5EB832-C84E-8B48-6322-32626BB3C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835" y="725055"/>
            <a:ext cx="3554106" cy="399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95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9A90-E01B-EE8C-148F-885FAD696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C# -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Classes and Methods, Variables and Parameters</a:t>
            </a:r>
            <a:endParaRPr lang="en-US" sz="36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5BE62E9-9731-3D2F-531A-D8227629E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57" y="4961966"/>
            <a:ext cx="9962148" cy="14311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Notes: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Use </a:t>
            </a:r>
            <a:r>
              <a:rPr kumimoji="0" lang="en-US" altLang="en-US" sz="1500" b="0" i="1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PascalCase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 for class, method, property, and event names (e.g., 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MyClass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, 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MyMethod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, 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MyProperty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Use camelCase for local variables and parameters (e.g., 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myVariable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, 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myParameter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Use uppercase for constant names (e.g.,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MY_CONSTANT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Prefix interfaces with ‘I’ (e.g., 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IMyInterface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).</a:t>
            </a:r>
            <a:endParaRPr kumimoji="0" lang="en-US" altLang="en-US" sz="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dium-content-sans-serif-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312E7C-614C-F246-7CDB-9B0C1F5F2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939466"/>
            <a:ext cx="5667375" cy="1695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A21378-E8C9-AAC3-2124-6A324A3E0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944755"/>
            <a:ext cx="6124575" cy="148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99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86A9-859C-B656-63EF-CAC4D606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E6B2-2C52-B1CF-FF1E-18350B1D0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245962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C# -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Indentation and Braces; Enlightening Documentation</a:t>
            </a:r>
            <a:endParaRPr lang="en-US" sz="36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FBC23D6-ADD7-1359-F508-751B09E45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85298"/>
            <a:ext cx="4985084" cy="6924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500" i="1" dirty="0">
                <a:solidFill>
                  <a:srgbClr val="242424"/>
                </a:solidFill>
                <a:latin typeface="source-serif-pro"/>
              </a:rPr>
              <a:t>Using a consistent indentation keeps the codebase organized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500" i="1" dirty="0">
                <a:solidFill>
                  <a:srgbClr val="242424"/>
                </a:solidFill>
                <a:latin typeface="source-serif-pro"/>
              </a:rPr>
              <a:t>Well-documented code is a treasure trove of insights for fellow developers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EFEFEF-AB29-FB5F-D7D1-4854798A5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57" y="777512"/>
            <a:ext cx="5145613" cy="2007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664BE6-0134-A68D-7439-673DBEF2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57" y="3023393"/>
            <a:ext cx="5145613" cy="153594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90D2E6F-3303-697B-7CC0-32AAB05C8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57" y="4692906"/>
            <a:ext cx="6557211" cy="14311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Notes: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Use XML comments to document classes, methods, and properties.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Include a summary, remarks, and example sections in your XML comments.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Use single-line comments (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//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) for brief explanations within the code.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Avoid excessive comments; aim for self-explanatory code.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dium-content-sans-serif-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251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1B7EC-4F39-1B33-7F7F-846EE4FD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CFEE-F11B-E3A3-E088-ECD2403D3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C# -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Self-Explanatory Code, Formatting and Style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1A6A9-3EF6-A384-D310-BA690513D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57" y="853878"/>
            <a:ext cx="5695952" cy="1290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C5D154-355B-4CE6-2234-232BF124A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57" y="2225843"/>
            <a:ext cx="5695952" cy="2869318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A1A63EA8-DBD5-22C3-4697-26D4C2E4A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57" y="5095161"/>
            <a:ext cx="8971548" cy="1661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Notes: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Use spaces around operators (e.g.,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x = y + z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instead of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x=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y+z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).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Leave a space after commas in parameter and argument lists.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Use blank lines to separate logical sections of code.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Prefer string interpolation (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$"Hello, {name}"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) over concatenation.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Use 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string.Format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or interpolated strings for formatting.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dium-content-sans-serif-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249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B3326-DD72-16D3-B69F-0780D443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79B6-7412-B77C-23F3-5E548647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234040"/>
            <a:ext cx="11550315" cy="383665"/>
          </a:xfrm>
        </p:spPr>
        <p:txBody>
          <a:bodyPr>
            <a:noAutofit/>
          </a:bodyPr>
          <a:lstStyle/>
          <a:p>
            <a:r>
              <a:rPr lang="en-US" sz="3600" dirty="0"/>
              <a:t>C# - </a:t>
            </a:r>
            <a:r>
              <a:rPr lang="en-US" sz="3600" b="1" i="0" dirty="0">
                <a:solidFill>
                  <a:srgbClr val="242424"/>
                </a:solidFill>
                <a:effectLst/>
                <a:latin typeface="sohne"/>
              </a:rPr>
              <a:t>Error Handling, Mastering Advanced Techniques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FF225-8677-FDF1-E320-16FF1BEF5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90" y="617706"/>
            <a:ext cx="5541433" cy="26548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A09A08-6301-F7A9-970B-2D368A6CD195}"/>
              </a:ext>
            </a:extLst>
          </p:cNvPr>
          <p:cNvSpPr txBox="1"/>
          <p:nvPr/>
        </p:nvSpPr>
        <p:spPr>
          <a:xfrm>
            <a:off x="6268452" y="1209745"/>
            <a:ext cx="4744453" cy="1300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0" i="1" dirty="0">
                <a:solidFill>
                  <a:srgbClr val="242424"/>
                </a:solidFill>
                <a:effectLst/>
                <a:latin typeface="source-serif-pro"/>
              </a:rPr>
              <a:t>Avoid catching generic exceptions unless necessary; catch specific exceptions instead.</a:t>
            </a:r>
            <a:endParaRPr lang="en-US" sz="16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0" i="1" dirty="0">
                <a:solidFill>
                  <a:srgbClr val="242424"/>
                </a:solidFill>
                <a:effectLst/>
                <a:latin typeface="source-serif-pro"/>
              </a:rPr>
              <a:t>Log or handle exceptions appropriately based on their severity.</a:t>
            </a:r>
            <a:endParaRPr lang="en-US" sz="16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0D1A63-EDC2-0255-8F52-EE8F25B62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89" y="3389829"/>
            <a:ext cx="5541433" cy="7329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04C441-1D25-DE90-2BA8-4F07BFCDB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88" y="4200659"/>
            <a:ext cx="5541433" cy="24469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082F44F-64D1-7970-C305-59109BFCC6F7}"/>
              </a:ext>
            </a:extLst>
          </p:cNvPr>
          <p:cNvSpPr txBox="1"/>
          <p:nvPr/>
        </p:nvSpPr>
        <p:spPr>
          <a:xfrm>
            <a:off x="6268452" y="3564261"/>
            <a:ext cx="6106026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800" b="0" i="1" dirty="0"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en-US" sz="1600" b="0" i="1" dirty="0">
                <a:solidFill>
                  <a:srgbClr val="242424"/>
                </a:solidFill>
                <a:effectLst/>
                <a:latin typeface="source-serif-pro"/>
              </a:rPr>
              <a:t>Lambdas</a:t>
            </a:r>
            <a:endParaRPr lang="en-US" sz="16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5A36CF-FB2A-104B-15EE-505672869402}"/>
              </a:ext>
            </a:extLst>
          </p:cNvPr>
          <p:cNvSpPr txBox="1"/>
          <p:nvPr/>
        </p:nvSpPr>
        <p:spPr>
          <a:xfrm>
            <a:off x="6268452" y="5040042"/>
            <a:ext cx="6106026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800" b="0" i="1" dirty="0"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en-US" sz="1600" b="0" i="1" dirty="0">
                <a:solidFill>
                  <a:srgbClr val="242424"/>
                </a:solidFill>
                <a:effectLst/>
                <a:latin typeface="source-serif-pro"/>
              </a:rPr>
              <a:t>Impli</a:t>
            </a:r>
            <a:r>
              <a:rPr lang="en-US" sz="1600" i="1" dirty="0">
                <a:solidFill>
                  <a:srgbClr val="242424"/>
                </a:solidFill>
                <a:latin typeface="source-serif-pro"/>
              </a:rPr>
              <a:t>cit casting</a:t>
            </a:r>
            <a:endParaRPr lang="en-US" sz="16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DDBF1B-E8C1-A691-8751-23F10E5C85CD}"/>
              </a:ext>
            </a:extLst>
          </p:cNvPr>
          <p:cNvSpPr txBox="1"/>
          <p:nvPr/>
        </p:nvSpPr>
        <p:spPr>
          <a:xfrm>
            <a:off x="6420852" y="3716661"/>
            <a:ext cx="6106026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800" b="0" i="1" dirty="0"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en-US" sz="1600" b="0" i="1" dirty="0">
                <a:solidFill>
                  <a:srgbClr val="242424"/>
                </a:solidFill>
                <a:effectLst/>
                <a:latin typeface="source-serif-pro"/>
              </a:rPr>
              <a:t>Lambdas</a:t>
            </a:r>
            <a:endParaRPr lang="en-US" sz="16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3717870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9BC6-020B-580C-A082-F468E268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2411756"/>
            <a:ext cx="9692640" cy="1397124"/>
          </a:xfrm>
        </p:spPr>
        <p:txBody>
          <a:bodyPr/>
          <a:lstStyle/>
          <a:p>
            <a:pPr algn="ctr"/>
            <a:r>
              <a:rPr lang="en-US" dirty="0"/>
              <a:t>A great example for C# coding standard </a:t>
            </a:r>
            <a:r>
              <a:rPr lang="en-US" dirty="0">
                <a:hlinkClick r:id="rId2"/>
              </a:rPr>
              <a:t>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51273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6254F94D394B4CA8B5B4F81D08B671" ma:contentTypeVersion="4" ma:contentTypeDescription="Create a new document." ma:contentTypeScope="" ma:versionID="987df1b90be21c8630444248c769c9dc">
  <xsd:schema xmlns:xsd="http://www.w3.org/2001/XMLSchema" xmlns:xs="http://www.w3.org/2001/XMLSchema" xmlns:p="http://schemas.microsoft.com/office/2006/metadata/properties" xmlns:ns2="265d1ed6-50d3-4abd-8af4-7ccbf4c8a1dc" targetNamespace="http://schemas.microsoft.com/office/2006/metadata/properties" ma:root="true" ma:fieldsID="a8d336635ff3851955fa1d691a9095b5" ns2:_="">
    <xsd:import namespace="265d1ed6-50d3-4abd-8af4-7ccbf4c8a1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d1ed6-50d3-4abd-8af4-7ccbf4c8a1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4C1D10-5765-4BE3-A4A8-A211F0DF5212}"/>
</file>

<file path=customXml/itemProps2.xml><?xml version="1.0" encoding="utf-8"?>
<ds:datastoreItem xmlns:ds="http://schemas.openxmlformats.org/officeDocument/2006/customXml" ds:itemID="{4E32B082-0F0B-4FDD-B2F9-CB30FE973CDD}"/>
</file>

<file path=customXml/itemProps3.xml><?xml version="1.0" encoding="utf-8"?>
<ds:datastoreItem xmlns:ds="http://schemas.openxmlformats.org/officeDocument/2006/customXml" ds:itemID="{BD23BB56-0CB0-4D05-B1B1-018B404B2E92}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55</TotalTime>
  <Words>346</Words>
  <Application>Microsoft Office PowerPoint</Application>
  <PresentationFormat>Widescreen</PresentationFormat>
  <Paragraphs>45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Century Schoolbook</vt:lpstr>
      <vt:lpstr>medium-content-sans-serif-font</vt:lpstr>
      <vt:lpstr>sohne</vt:lpstr>
      <vt:lpstr>source-code-pro</vt:lpstr>
      <vt:lpstr>source-serif-pro</vt:lpstr>
      <vt:lpstr>Wingdings 2</vt:lpstr>
      <vt:lpstr>View</vt:lpstr>
      <vt:lpstr>Coding standards</vt:lpstr>
      <vt:lpstr>PowerPoint Presentation</vt:lpstr>
      <vt:lpstr>Python - Naming Conventions</vt:lpstr>
      <vt:lpstr>Python - Indentation and Whitespace</vt:lpstr>
      <vt:lpstr>Python - Line Length and Breaking</vt:lpstr>
      <vt:lpstr>Python - Imports</vt:lpstr>
      <vt:lpstr>Python - Comments and Docstrings</vt:lpstr>
      <vt:lpstr>Python - Function and Method Design</vt:lpstr>
      <vt:lpstr>Python – Zen of Python</vt:lpstr>
      <vt:lpstr>The best coding practice standard for Python is PEP 8.  For more structure Google standard is a good one but pretty stuffy</vt:lpstr>
      <vt:lpstr>PowerPoint Presentation</vt:lpstr>
      <vt:lpstr>C# - Classes and Methods, Variables and Parameters</vt:lpstr>
      <vt:lpstr>C# - Indentation and Braces; Enlightening Documentation</vt:lpstr>
      <vt:lpstr>C# - Self-Explanatory Code, Formatting and Style</vt:lpstr>
      <vt:lpstr>C# - Error Handling, Mastering Advanced Techniques</vt:lpstr>
      <vt:lpstr>A great example for C# coding standard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</dc:creator>
  <cp:lastModifiedBy>Robert Apostu</cp:lastModifiedBy>
  <cp:revision>2</cp:revision>
  <dcterms:created xsi:type="dcterms:W3CDTF">2025-03-25T22:58:40Z</dcterms:created>
  <dcterms:modified xsi:type="dcterms:W3CDTF">2025-03-25T23:54:18Z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0x010100376254F94D394B4CA8B5B4F81D08B671</vt:lpwstr>
  </property>
</Properties>
</file>