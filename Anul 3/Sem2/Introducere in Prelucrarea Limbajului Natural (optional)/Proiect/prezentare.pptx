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8229600" cx="14630400"/>
  <p:notesSz cx="8229600" cy="14630400"/>
  <p:embeddedFontLst>
    <p:embeddedFont>
      <p:font typeface="Inter"/>
      <p:regular r:id="rId14"/>
      <p:bold r:id="rId15"/>
      <p:italic r:id="rId16"/>
      <p:boldItalic r:id="rId17"/>
    </p:embeddedFont>
    <p:embeddedFont>
      <p:font typeface="Manrope"/>
      <p:regular r:id="rId18"/>
      <p:bold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-bold.fntdata"/><Relationship Id="rId6" Type="http://schemas.openxmlformats.org/officeDocument/2006/relationships/slide" Target="slides/slide1.xml"/><Relationship Id="rId18" Type="http://schemas.openxmlformats.org/officeDocument/2006/relationships/font" Target="fonts/Manrop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37" name="Google Shape;37;p9">
            <a:hlinkClick r:id="rId3"/>
          </p:cNvPr>
          <p:cNvSpPr/>
          <p:nvPr/>
        </p:nvSpPr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784400" y="720240"/>
            <a:ext cx="10188600" cy="6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/>
          <p:nvPr/>
        </p:nvSpPr>
        <p:spPr>
          <a:xfrm>
            <a:off x="7315200" y="40"/>
            <a:ext cx="7315200" cy="822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7"/>
          <p:cNvSpPr txBox="1"/>
          <p:nvPr>
            <p:ph type="title"/>
          </p:nvPr>
        </p:nvSpPr>
        <p:spPr>
          <a:xfrm>
            <a:off x="424800" y="1973080"/>
            <a:ext cx="64722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424800" y="4484920"/>
            <a:ext cx="64722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7903200" y="1158720"/>
            <a:ext cx="6139200" cy="59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  <a:defRPr>
                <a:solidFill>
                  <a:schemeClr val="dk1"/>
                </a:solidFill>
              </a:defRPr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498720" y="6768920"/>
            <a:ext cx="95982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hasCustomPrompt="1" type="title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86" name="Google Shape;86;p22">
            <a:hlinkClick r:id="rId3"/>
          </p:cNvPr>
          <p:cNvSpPr/>
          <p:nvPr/>
        </p:nvSpPr>
        <p:spPr>
          <a:xfrm>
            <a:off x="12839215" y="7749540"/>
            <a:ext cx="1722600" cy="4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90" name="Google Shape;90;p23">
            <a:hlinkClick r:id="rId3"/>
          </p:cNvPr>
          <p:cNvSpPr/>
          <p:nvPr/>
        </p:nvSpPr>
        <p:spPr>
          <a:xfrm>
            <a:off x="12839215" y="7749540"/>
            <a:ext cx="1722600" cy="4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94" name="Google Shape;94;p24">
            <a:hlinkClick r:id="rId3"/>
          </p:cNvPr>
          <p:cNvSpPr/>
          <p:nvPr/>
        </p:nvSpPr>
        <p:spPr>
          <a:xfrm>
            <a:off x="12839215" y="7749540"/>
            <a:ext cx="1722600" cy="4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98" name="Google Shape;98;p25">
            <a:hlinkClick r:id="rId3"/>
          </p:cNvPr>
          <p:cNvSpPr/>
          <p:nvPr/>
        </p:nvSpPr>
        <p:spPr>
          <a:xfrm>
            <a:off x="12839215" y="7749540"/>
            <a:ext cx="1722600" cy="4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02" name="Google Shape;102;p26">
            <a:hlinkClick r:id="rId3"/>
          </p:cNvPr>
          <p:cNvSpPr/>
          <p:nvPr/>
        </p:nvSpPr>
        <p:spPr>
          <a:xfrm>
            <a:off x="12839215" y="7749540"/>
            <a:ext cx="1722600" cy="4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06" name="Google Shape;106;p27">
            <a:hlinkClick r:id="rId3"/>
          </p:cNvPr>
          <p:cNvSpPr/>
          <p:nvPr/>
        </p:nvSpPr>
        <p:spPr>
          <a:xfrm>
            <a:off x="12839215" y="7749540"/>
            <a:ext cx="1722600" cy="4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8" name="Google Shape;10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10" name="Google Shape;110;p28">
            <a:hlinkClick r:id="rId3"/>
          </p:cNvPr>
          <p:cNvSpPr/>
          <p:nvPr/>
        </p:nvSpPr>
        <p:spPr>
          <a:xfrm>
            <a:off x="12839215" y="7749540"/>
            <a:ext cx="1722600" cy="4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14" name="Google Shape;114;p29">
            <a:hlinkClick r:id="rId3"/>
          </p:cNvPr>
          <p:cNvSpPr/>
          <p:nvPr/>
        </p:nvSpPr>
        <p:spPr>
          <a:xfrm>
            <a:off x="12839215" y="7749540"/>
            <a:ext cx="1722600" cy="4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117" name="Google Shape;117;p30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24" name="Google Shape;124;p32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type="title"/>
          </p:nvPr>
        </p:nvSpPr>
        <p:spPr>
          <a:xfrm>
            <a:off x="784400" y="720240"/>
            <a:ext cx="10188600" cy="6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40" name="Google Shape;140;p3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/>
          <p:nvPr/>
        </p:nvSpPr>
        <p:spPr>
          <a:xfrm>
            <a:off x="7315200" y="40"/>
            <a:ext cx="7315200" cy="822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7"/>
          <p:cNvSpPr txBox="1"/>
          <p:nvPr>
            <p:ph type="title"/>
          </p:nvPr>
        </p:nvSpPr>
        <p:spPr>
          <a:xfrm>
            <a:off x="424800" y="1973080"/>
            <a:ext cx="6472200" cy="23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144" name="Google Shape;144;p37"/>
          <p:cNvSpPr txBox="1"/>
          <p:nvPr>
            <p:ph idx="1" type="subTitle"/>
          </p:nvPr>
        </p:nvSpPr>
        <p:spPr>
          <a:xfrm>
            <a:off x="424800" y="4484920"/>
            <a:ext cx="64722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145" name="Google Shape;145;p37"/>
          <p:cNvSpPr txBox="1"/>
          <p:nvPr>
            <p:ph idx="2" type="body"/>
          </p:nvPr>
        </p:nvSpPr>
        <p:spPr>
          <a:xfrm>
            <a:off x="7903200" y="1158720"/>
            <a:ext cx="6139200" cy="59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2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  <a:defRPr>
                <a:solidFill>
                  <a:schemeClr val="dk1"/>
                </a:solidFill>
              </a:defRPr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>
                <a:solidFill>
                  <a:schemeClr val="dk1"/>
                </a:solidFill>
              </a:defRPr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>
                <a:solidFill>
                  <a:schemeClr val="dk1"/>
                </a:solidFill>
              </a:defRPr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3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/>
          <p:nvPr>
            <p:ph idx="1" type="body"/>
          </p:nvPr>
        </p:nvSpPr>
        <p:spPr>
          <a:xfrm>
            <a:off x="498720" y="6768920"/>
            <a:ext cx="95982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/>
        </p:txBody>
      </p:sp>
      <p:sp>
        <p:nvSpPr>
          <p:cNvPr id="149" name="Google Shape;149;p3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/>
          <p:nvPr>
            <p:ph hasCustomPrompt="1" type="title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152" name="Google Shape;152;p39"/>
          <p:cNvSpPr txBox="1"/>
          <p:nvPr>
            <p:ph idx="1" type="body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 (g3d504cda4f5_7_0)"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8.xml"/><Relationship Id="rId6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Arial"/>
              <a:buChar char="●"/>
              <a:defRPr b="0" i="0" sz="2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Arial"/>
              <a:buChar char="●"/>
              <a:defRPr b="0" i="0" sz="2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2" name="Google Shape;16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2"/>
          <p:cNvSpPr/>
          <p:nvPr/>
        </p:nvSpPr>
        <p:spPr>
          <a:xfrm>
            <a:off x="793790" y="1539478"/>
            <a:ext cx="2522458" cy="362783"/>
          </a:xfrm>
          <a:prstGeom prst="roundRect">
            <a:avLst>
              <a:gd fmla="val 2521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2"/>
          <p:cNvSpPr/>
          <p:nvPr/>
        </p:nvSpPr>
        <p:spPr>
          <a:xfrm>
            <a:off x="929878" y="1607463"/>
            <a:ext cx="2250281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NLP RESEARCH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2"/>
          <p:cNvSpPr/>
          <p:nvPr/>
        </p:nvSpPr>
        <p:spPr>
          <a:xfrm>
            <a:off x="793790" y="1992987"/>
            <a:ext cx="7556421" cy="313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6150"/>
              <a:buFont typeface="Manrope"/>
              <a:buNone/>
            </a:pPr>
            <a:r>
              <a:rPr b="1" i="0" lang="en-US" sz="605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Meta Shift: Tracking Game Balance Changes with NLP</a:t>
            </a:r>
            <a:endParaRPr b="0" i="0" sz="6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2"/>
          <p:cNvSpPr/>
          <p:nvPr/>
        </p:nvSpPr>
        <p:spPr>
          <a:xfrm>
            <a:off x="793790" y="5463540"/>
            <a:ext cx="7556421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Bootstrapping Transformers via Distant Supervision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2"/>
          <p:cNvSpPr/>
          <p:nvPr/>
        </p:nvSpPr>
        <p:spPr>
          <a:xfrm>
            <a:off x="793790" y="6115559"/>
            <a:ext cx="7556421" cy="35957"/>
          </a:xfrm>
          <a:prstGeom prst="rect">
            <a:avLst/>
          </a:prstGeom>
          <a:solidFill>
            <a:srgbClr val="5D5D5D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2"/>
          <p:cNvSpPr/>
          <p:nvPr/>
        </p:nvSpPr>
        <p:spPr>
          <a:xfrm>
            <a:off x="793790" y="6406634"/>
            <a:ext cx="7556421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Authors:</a:t>
            </a:r>
            <a:r>
              <a:rPr b="0" i="0" lang="en-US" sz="17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Matei</a:t>
            </a:r>
            <a:r>
              <a:rPr lang="en-US" sz="175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-Ștefan </a:t>
            </a:r>
            <a:r>
              <a:rPr b="0" i="0" lang="en-US" sz="17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Ungureanu &amp; George Manolachi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3"/>
          <p:cNvSpPr/>
          <p:nvPr/>
        </p:nvSpPr>
        <p:spPr>
          <a:xfrm>
            <a:off x="809050" y="459927"/>
            <a:ext cx="1398600" cy="509700"/>
          </a:xfrm>
          <a:prstGeom prst="roundRect">
            <a:avLst>
              <a:gd fmla="val 2521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3"/>
          <p:cNvSpPr/>
          <p:nvPr/>
        </p:nvSpPr>
        <p:spPr>
          <a:xfrm>
            <a:off x="945125" y="592525"/>
            <a:ext cx="1196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3"/>
          <p:cNvSpPr/>
          <p:nvPr/>
        </p:nvSpPr>
        <p:spPr>
          <a:xfrm>
            <a:off x="809040" y="1062680"/>
            <a:ext cx="5670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4450"/>
              <a:buFont typeface="Manrope"/>
              <a:buNone/>
            </a:pPr>
            <a:r>
              <a:rPr b="0" i="0" lang="en-US" sz="4450" u="none" cap="none" strike="noStrike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The Problem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3"/>
          <p:cNvSpPr/>
          <p:nvPr/>
        </p:nvSpPr>
        <p:spPr>
          <a:xfrm>
            <a:off x="809050" y="1892425"/>
            <a:ext cx="130428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In competitive multiplayer games, keeping track of balance changes introduced through updates can be time-consuming, since patch notes are usually written in unstructured natural language.</a:t>
            </a:r>
            <a:endParaRPr sz="1750">
              <a:solidFill>
                <a:srgbClr val="5D5D5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50">
              <a:solidFill>
                <a:srgbClr val="5D5D5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43"/>
          <p:cNvSpPr/>
          <p:nvPr/>
        </p:nvSpPr>
        <p:spPr>
          <a:xfrm>
            <a:off x="809050" y="3075550"/>
            <a:ext cx="6408000" cy="4231200"/>
          </a:xfrm>
          <a:prstGeom prst="roundRect">
            <a:avLst>
              <a:gd fmla="val 8198" name="adj"/>
            </a:avLst>
          </a:prstGeom>
          <a:solidFill>
            <a:srgbClr val="FFFFFF"/>
          </a:solidFill>
          <a:ln cap="flat" cmpd="sng" w="30475">
            <a:solidFill>
              <a:srgbClr val="003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3"/>
          <p:cNvSpPr/>
          <p:nvPr/>
        </p:nvSpPr>
        <p:spPr>
          <a:xfrm>
            <a:off x="778553" y="3075549"/>
            <a:ext cx="121800" cy="4231200"/>
          </a:xfrm>
          <a:prstGeom prst="roundRect">
            <a:avLst>
              <a:gd fmla="val 7500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3"/>
          <p:cNvSpPr/>
          <p:nvPr/>
        </p:nvSpPr>
        <p:spPr>
          <a:xfrm>
            <a:off x="1157774" y="3332845"/>
            <a:ext cx="28353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200"/>
              <a:buFont typeface="Manrope"/>
              <a:buNone/>
            </a:pPr>
            <a:r>
              <a:rPr b="0" i="0" lang="en-US" sz="22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Manual Overhead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3"/>
          <p:cNvSpPr/>
          <p:nvPr/>
        </p:nvSpPr>
        <p:spPr>
          <a:xfrm>
            <a:off x="1157775" y="3853225"/>
            <a:ext cx="58020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Manual tracking is overwhelming,</a:t>
            </a:r>
            <a:r>
              <a:rPr lang="en-US" sz="175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slow,</a:t>
            </a:r>
            <a:r>
              <a:rPr b="0" i="0" lang="en-US" sz="17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and fails to reveal long-term "meta" shifts </a:t>
            </a:r>
            <a:r>
              <a:rPr lang="en-US" sz="175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and which strategies remain effective.</a:t>
            </a:r>
            <a:endParaRPr sz="1750">
              <a:solidFill>
                <a:srgbClr val="5D5D5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43"/>
          <p:cNvSpPr/>
          <p:nvPr/>
        </p:nvSpPr>
        <p:spPr>
          <a:xfrm>
            <a:off x="7443800" y="3075550"/>
            <a:ext cx="6408000" cy="4231200"/>
          </a:xfrm>
          <a:prstGeom prst="roundRect">
            <a:avLst>
              <a:gd fmla="val 8198" name="adj"/>
            </a:avLst>
          </a:prstGeom>
          <a:solidFill>
            <a:srgbClr val="FFFFFF"/>
          </a:solidFill>
          <a:ln cap="flat" cmpd="sng" w="30475">
            <a:solidFill>
              <a:srgbClr val="003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3"/>
          <p:cNvSpPr/>
          <p:nvPr/>
        </p:nvSpPr>
        <p:spPr>
          <a:xfrm>
            <a:off x="7413325" y="3075549"/>
            <a:ext cx="121800" cy="4231200"/>
          </a:xfrm>
          <a:prstGeom prst="roundRect">
            <a:avLst>
              <a:gd fmla="val 7500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3"/>
          <p:cNvSpPr/>
          <p:nvPr/>
        </p:nvSpPr>
        <p:spPr>
          <a:xfrm>
            <a:off x="7792532" y="3332845"/>
            <a:ext cx="3179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200"/>
              <a:buFont typeface="Manrope"/>
              <a:buNone/>
            </a:pPr>
            <a:r>
              <a:rPr b="0" i="0" lang="en-US" sz="22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Domain Vocabulary Gap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3"/>
          <p:cNvSpPr/>
          <p:nvPr/>
        </p:nvSpPr>
        <p:spPr>
          <a:xfrm>
            <a:off x="7792525" y="3802825"/>
            <a:ext cx="5802000" cy="3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Video game jargon (e.g., "Hitscan", "Cooldown") makes standard software engineering extraction tools ineffective for this domain</a:t>
            </a:r>
            <a:r>
              <a:rPr lang="en-US" sz="175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lang="en-US" sz="175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750">
                <a:solidFill>
                  <a:srgbClr val="5D5D5D"/>
                </a:solidFill>
              </a:rPr>
              <a:t>Example of a standard zero-shot model classification:</a:t>
            </a:r>
            <a:endParaRPr sz="1750">
              <a:solidFill>
                <a:srgbClr val="5D5D5D"/>
              </a:solidFill>
            </a:endParaRPr>
          </a:p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br>
              <a:rPr lang="en-US" sz="1750">
                <a:solidFill>
                  <a:srgbClr val="5D5D5D"/>
                </a:solidFill>
              </a:rPr>
            </a:br>
            <a:r>
              <a:rPr lang="en-US" sz="1550">
                <a:solidFill>
                  <a:srgbClr val="5D5D5D"/>
                </a:solidFill>
              </a:rPr>
              <a:t>Text: Tracer's Pulse Pistols Damage reduced from 6 to 5.5</a:t>
            </a:r>
            <a:endParaRPr sz="1550">
              <a:solidFill>
                <a:srgbClr val="5D5D5D"/>
              </a:solidFill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D5D5D"/>
                </a:solidFill>
              </a:rPr>
              <a:t> [PRODUCT] Tracer, [CARDINAL] 6, [CARDINAL] 5.5</a:t>
            </a:r>
            <a:endParaRPr sz="1550">
              <a:solidFill>
                <a:srgbClr val="5D5D5D"/>
              </a:solidFill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5D5D5D"/>
              </a:solidFill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D5D5D"/>
                </a:solidFill>
              </a:rPr>
              <a:t>Text: Zenyatta's Transcendent Condemnation Removed.</a:t>
            </a:r>
            <a:endParaRPr sz="1550">
              <a:solidFill>
                <a:srgbClr val="5D5D5D"/>
              </a:solidFill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5D5D5D"/>
                </a:solidFill>
              </a:rPr>
              <a:t> [ORG] Zenyatta, [ORG] Transcendent Condemnation Removed</a:t>
            </a:r>
            <a:endParaRPr sz="1550">
              <a:solidFill>
                <a:srgbClr val="5D5D5D"/>
              </a:solidFill>
            </a:endParaRPr>
          </a:p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rgbClr val="5D5D5D"/>
              </a:solidFill>
            </a:endParaRPr>
          </a:p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rgbClr val="5D5D5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186" name="Google Shape;186;p43"/>
          <p:cNvPicPr preferRelativeResize="0"/>
          <p:nvPr/>
        </p:nvPicPr>
        <p:blipFill rotWithShape="1">
          <a:blip r:embed="rId3">
            <a:alphaModFix/>
          </a:blip>
          <a:srcRect b="94411" l="0" r="0" t="0"/>
          <a:stretch/>
        </p:blipFill>
        <p:spPr>
          <a:xfrm>
            <a:off x="0" y="0"/>
            <a:ext cx="14630400" cy="45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775" y="4950925"/>
            <a:ext cx="5444400" cy="21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3" name="Google Shape;19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4"/>
          <p:cNvSpPr/>
          <p:nvPr/>
        </p:nvSpPr>
        <p:spPr>
          <a:xfrm>
            <a:off x="786527" y="2872383"/>
            <a:ext cx="1592818" cy="268962"/>
          </a:xfrm>
          <a:prstGeom prst="roundRect">
            <a:avLst>
              <a:gd fmla="val 3400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4"/>
          <p:cNvSpPr/>
          <p:nvPr/>
        </p:nvSpPr>
        <p:spPr>
          <a:xfrm>
            <a:off x="894398" y="2926318"/>
            <a:ext cx="1377077" cy="16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636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SYSTEM OVERVIEW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/>
          <p:cNvSpPr/>
          <p:nvPr/>
        </p:nvSpPr>
        <p:spPr>
          <a:xfrm>
            <a:off x="786527" y="3198257"/>
            <a:ext cx="4811316" cy="449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3500"/>
              <a:buFont typeface="Manrope"/>
              <a:buNone/>
            </a:pPr>
            <a:r>
              <a:rPr b="0" i="0" lang="en-US" sz="3500" u="none" cap="none" strike="noStrike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Introducing Meta Shift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4"/>
          <p:cNvSpPr/>
          <p:nvPr/>
        </p:nvSpPr>
        <p:spPr>
          <a:xfrm>
            <a:off x="786527" y="3861435"/>
            <a:ext cx="13057346" cy="201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Meta Shift is an automated rule-based NER pipeline designed to 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extract</a:t>
            </a: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, decipher, and 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summarize </a:t>
            </a: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balance changes from game patch notes.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4"/>
          <p:cNvSpPr/>
          <p:nvPr/>
        </p:nvSpPr>
        <p:spPr>
          <a:xfrm>
            <a:off x="786527" y="4223028"/>
            <a:ext cx="6457500" cy="539400"/>
          </a:xfrm>
          <a:prstGeom prst="roundRect">
            <a:avLst>
              <a:gd fmla="val 480036" name="adj"/>
            </a:avLst>
          </a:prstGeom>
          <a:solidFill>
            <a:srgbClr val="00332A"/>
          </a:solidFill>
          <a:ln cap="flat" cmpd="sng" w="9525">
            <a:solidFill>
              <a:srgbClr val="194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4"/>
          <p:cNvSpPr/>
          <p:nvPr/>
        </p:nvSpPr>
        <p:spPr>
          <a:xfrm>
            <a:off x="3880366" y="4357807"/>
            <a:ext cx="269677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4"/>
          <p:cNvSpPr/>
          <p:nvPr/>
        </p:nvSpPr>
        <p:spPr>
          <a:xfrm>
            <a:off x="966286" y="4904900"/>
            <a:ext cx="6036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Data </a:t>
            </a:r>
            <a:r>
              <a:rPr lang="en-US" sz="2100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Extraction and Standardization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4"/>
          <p:cNvSpPr/>
          <p:nvPr/>
        </p:nvSpPr>
        <p:spPr>
          <a:xfrm>
            <a:off x="966311" y="5260062"/>
            <a:ext cx="6097786" cy="4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The system asynchronously 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extracts </a:t>
            </a: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data from community Fandom Wiki APIs for up-to-date patch coverage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standardizes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4"/>
          <p:cNvSpPr/>
          <p:nvPr/>
        </p:nvSpPr>
        <p:spPr>
          <a:xfrm>
            <a:off x="7386399" y="4223028"/>
            <a:ext cx="6457474" cy="539353"/>
          </a:xfrm>
          <a:prstGeom prst="roundRect">
            <a:avLst>
              <a:gd fmla="val 480036" name="adj"/>
            </a:avLst>
          </a:prstGeom>
          <a:solidFill>
            <a:srgbClr val="00332A"/>
          </a:solidFill>
          <a:ln cap="flat" cmpd="sng" w="9525">
            <a:solidFill>
              <a:srgbClr val="194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4"/>
          <p:cNvSpPr/>
          <p:nvPr/>
        </p:nvSpPr>
        <p:spPr>
          <a:xfrm>
            <a:off x="10480238" y="4357807"/>
            <a:ext cx="269677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4"/>
          <p:cNvSpPr/>
          <p:nvPr/>
        </p:nvSpPr>
        <p:spPr>
          <a:xfrm>
            <a:off x="7566176" y="4904900"/>
            <a:ext cx="51189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anrope"/>
              <a:buNone/>
            </a:pPr>
            <a:r>
              <a:rPr lang="en-US" sz="2100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Phrase matching for domain entities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4"/>
          <p:cNvSpPr/>
          <p:nvPr/>
        </p:nvSpPr>
        <p:spPr>
          <a:xfrm>
            <a:off x="7566184" y="5260062"/>
            <a:ext cx="6097905" cy="4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Inter"/>
              <a:buNone/>
            </a:pP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Scans the text for known game terms from curated lists (heroes, abilities, stats, status effects, etc.) and marks them as entities.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4"/>
          <p:cNvSpPr/>
          <p:nvPr/>
        </p:nvSpPr>
        <p:spPr>
          <a:xfrm>
            <a:off x="786527" y="5985034"/>
            <a:ext cx="6457355" cy="539353"/>
          </a:xfrm>
          <a:prstGeom prst="roundRect">
            <a:avLst>
              <a:gd fmla="val 480036" name="adj"/>
            </a:avLst>
          </a:prstGeom>
          <a:solidFill>
            <a:srgbClr val="00332A"/>
          </a:solidFill>
          <a:ln cap="flat" cmpd="sng" w="9525">
            <a:solidFill>
              <a:srgbClr val="194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4"/>
          <p:cNvSpPr/>
          <p:nvPr/>
        </p:nvSpPr>
        <p:spPr>
          <a:xfrm>
            <a:off x="3880366" y="6119812"/>
            <a:ext cx="269677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4"/>
          <p:cNvSpPr/>
          <p:nvPr/>
        </p:nvSpPr>
        <p:spPr>
          <a:xfrm>
            <a:off x="966311" y="6666905"/>
            <a:ext cx="2696885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Entity Extraction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4"/>
          <p:cNvSpPr/>
          <p:nvPr/>
        </p:nvSpPr>
        <p:spPr>
          <a:xfrm>
            <a:off x="966311" y="7022068"/>
            <a:ext cx="6097786" cy="4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Identifies 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entities such as the</a:t>
            </a: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HERO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and</a:t>
            </a: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ABILITY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the unstructured text refers to, as well as the type of change that occurs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4"/>
          <p:cNvSpPr/>
          <p:nvPr/>
        </p:nvSpPr>
        <p:spPr>
          <a:xfrm>
            <a:off x="7386399" y="5985034"/>
            <a:ext cx="6457500" cy="539400"/>
          </a:xfrm>
          <a:prstGeom prst="roundRect">
            <a:avLst>
              <a:gd fmla="val 480036" name="adj"/>
            </a:avLst>
          </a:prstGeom>
          <a:solidFill>
            <a:srgbClr val="00332A"/>
          </a:solidFill>
          <a:ln cap="flat" cmpd="sng" w="9525">
            <a:solidFill>
              <a:srgbClr val="194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4"/>
          <p:cNvSpPr/>
          <p:nvPr/>
        </p:nvSpPr>
        <p:spPr>
          <a:xfrm>
            <a:off x="10480238" y="6119812"/>
            <a:ext cx="269677" cy="269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4"/>
          <p:cNvSpPr/>
          <p:nvPr/>
        </p:nvSpPr>
        <p:spPr>
          <a:xfrm>
            <a:off x="7566174" y="6666900"/>
            <a:ext cx="29142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anrope"/>
              <a:buNone/>
            </a:pPr>
            <a:r>
              <a:rPr lang="en-US" sz="2100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Total Balance Change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4"/>
          <p:cNvSpPr/>
          <p:nvPr/>
        </p:nvSpPr>
        <p:spPr>
          <a:xfrm>
            <a:off x="7566184" y="7022068"/>
            <a:ext cx="6097905" cy="402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alculates the overall changes in the meta and outputs them in a structured 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5"/>
          <p:cNvSpPr/>
          <p:nvPr/>
        </p:nvSpPr>
        <p:spPr>
          <a:xfrm>
            <a:off x="6986495" y="5844890"/>
            <a:ext cx="340200" cy="2790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5"/>
          <p:cNvSpPr/>
          <p:nvPr/>
        </p:nvSpPr>
        <p:spPr>
          <a:xfrm>
            <a:off x="793800" y="416725"/>
            <a:ext cx="1366200" cy="508500"/>
          </a:xfrm>
          <a:prstGeom prst="roundRect">
            <a:avLst>
              <a:gd fmla="val 3647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166800" lIns="166800" spcFirstLastPara="1" rIns="166800" wrap="square" tIns="16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4"/>
              <a:buFont typeface="Arial"/>
              <a:buNone/>
            </a:pPr>
            <a:r>
              <a:t/>
            </a:r>
            <a:endParaRPr b="0" i="0" sz="25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5"/>
          <p:cNvSpPr/>
          <p:nvPr/>
        </p:nvSpPr>
        <p:spPr>
          <a:xfrm>
            <a:off x="979973" y="560824"/>
            <a:ext cx="993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916"/>
              <a:buFont typeface="Inter"/>
              <a:buNone/>
            </a:pPr>
            <a:r>
              <a:rPr b="0" i="0" lang="en-US" sz="1916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PHASE 1</a:t>
            </a:r>
            <a:endParaRPr b="0" i="0" sz="191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5"/>
          <p:cNvSpPr/>
          <p:nvPr/>
        </p:nvSpPr>
        <p:spPr>
          <a:xfrm>
            <a:off x="793790" y="976313"/>
            <a:ext cx="5051108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3300"/>
              <a:buFont typeface="Manrope"/>
              <a:buNone/>
            </a:pPr>
            <a:r>
              <a:rPr b="0" i="0" lang="en-US" sz="3300" u="none" cap="none" strike="noStrike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Rule-Based NER Baseline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5"/>
          <p:cNvSpPr/>
          <p:nvPr/>
        </p:nvSpPr>
        <p:spPr>
          <a:xfrm>
            <a:off x="793790" y="1592937"/>
            <a:ext cx="13042821" cy="185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The first step uses a spaCy rule-based system relying on curated domain-specific dictionaries and dependency parsing heuristics.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5"/>
          <p:cNvSpPr/>
          <p:nvPr/>
        </p:nvSpPr>
        <p:spPr>
          <a:xfrm>
            <a:off x="7303792" y="2160125"/>
            <a:ext cx="22800" cy="6069600"/>
          </a:xfrm>
          <a:prstGeom prst="roundRect">
            <a:avLst>
              <a:gd fmla="val 40000" name="adj"/>
            </a:avLst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5"/>
          <p:cNvSpPr/>
          <p:nvPr/>
        </p:nvSpPr>
        <p:spPr>
          <a:xfrm>
            <a:off x="6986495" y="2381467"/>
            <a:ext cx="340200" cy="2790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5"/>
          <p:cNvSpPr/>
          <p:nvPr/>
        </p:nvSpPr>
        <p:spPr>
          <a:xfrm>
            <a:off x="7251464" y="2317086"/>
            <a:ext cx="127500" cy="156900"/>
          </a:xfrm>
          <a:prstGeom prst="roundRect">
            <a:avLst>
              <a:gd fmla="val 35854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5"/>
          <p:cNvSpPr/>
          <p:nvPr/>
        </p:nvSpPr>
        <p:spPr>
          <a:xfrm>
            <a:off x="4508319" y="2264717"/>
            <a:ext cx="212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Manrope"/>
              <a:buNone/>
            </a:pPr>
            <a:r>
              <a:rPr b="1" i="0" lang="en-US" sz="165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Domain Dictionaries</a:t>
            </a:r>
            <a:endParaRPr b="1" i="0" sz="1650" u="none" cap="none" strike="noStrike">
              <a:solidFill>
                <a:srgbClr val="000000"/>
              </a:solidFill>
            </a:endParaRPr>
          </a:p>
        </p:txBody>
      </p:sp>
      <p:sp>
        <p:nvSpPr>
          <p:cNvPr id="228" name="Google Shape;228;p45"/>
          <p:cNvSpPr/>
          <p:nvPr/>
        </p:nvSpPr>
        <p:spPr>
          <a:xfrm>
            <a:off x="793800" y="2620385"/>
            <a:ext cx="5841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Curated vocabulary of game-specific terms forms the lexical backbone of entity recognition.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5"/>
          <p:cNvSpPr/>
          <p:nvPr/>
        </p:nvSpPr>
        <p:spPr>
          <a:xfrm>
            <a:off x="7316237" y="3235000"/>
            <a:ext cx="340200" cy="2790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5"/>
          <p:cNvSpPr/>
          <p:nvPr/>
        </p:nvSpPr>
        <p:spPr>
          <a:xfrm>
            <a:off x="7251464" y="3170635"/>
            <a:ext cx="127500" cy="156900"/>
          </a:xfrm>
          <a:prstGeom prst="roundRect">
            <a:avLst>
              <a:gd fmla="val 35854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5"/>
          <p:cNvSpPr/>
          <p:nvPr/>
        </p:nvSpPr>
        <p:spPr>
          <a:xfrm>
            <a:off x="7918999" y="3078004"/>
            <a:ext cx="234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Manrope"/>
              <a:buNone/>
            </a:pPr>
            <a:r>
              <a:rPr b="1" lang="en-US" sz="1650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Normalizing Raw Text</a:t>
            </a:r>
            <a:endParaRPr b="1" i="0" sz="1650" u="none" cap="none" strike="noStrike">
              <a:solidFill>
                <a:srgbClr val="000000"/>
              </a:solidFill>
            </a:endParaRPr>
          </a:p>
        </p:txBody>
      </p:sp>
      <p:sp>
        <p:nvSpPr>
          <p:cNvPr id="232" name="Google Shape;232;p45"/>
          <p:cNvSpPr/>
          <p:nvPr/>
        </p:nvSpPr>
        <p:spPr>
          <a:xfrm>
            <a:off x="7918991" y="3433688"/>
            <a:ext cx="5841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Cleans/standardizes the text so matching works consistently.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5"/>
          <p:cNvSpPr/>
          <p:nvPr/>
        </p:nvSpPr>
        <p:spPr>
          <a:xfrm>
            <a:off x="6976045" y="4003466"/>
            <a:ext cx="340200" cy="2790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5"/>
          <p:cNvSpPr/>
          <p:nvPr/>
        </p:nvSpPr>
        <p:spPr>
          <a:xfrm>
            <a:off x="7251464" y="3939054"/>
            <a:ext cx="127500" cy="156900"/>
          </a:xfrm>
          <a:prstGeom prst="roundRect">
            <a:avLst>
              <a:gd fmla="val 35854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5"/>
          <p:cNvSpPr/>
          <p:nvPr/>
        </p:nvSpPr>
        <p:spPr>
          <a:xfrm>
            <a:off x="4508294" y="3862709"/>
            <a:ext cx="212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Manrope"/>
              <a:buNone/>
            </a:pPr>
            <a:r>
              <a:rPr b="1" lang="en-US" sz="1650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Dictionary match</a:t>
            </a:r>
            <a:endParaRPr b="1" i="0" sz="1650" u="none" cap="none" strike="noStrike">
              <a:solidFill>
                <a:srgbClr val="000000"/>
              </a:solidFill>
            </a:endParaRPr>
          </a:p>
        </p:txBody>
      </p:sp>
      <p:sp>
        <p:nvSpPr>
          <p:cNvPr id="236" name="Google Shape;236;p45"/>
          <p:cNvSpPr/>
          <p:nvPr/>
        </p:nvSpPr>
        <p:spPr>
          <a:xfrm>
            <a:off x="793775" y="4218378"/>
            <a:ext cx="5841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Finds known heroes / abilities / stats by exact phrase matching from the dictionary.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5"/>
          <p:cNvSpPr/>
          <p:nvPr/>
        </p:nvSpPr>
        <p:spPr>
          <a:xfrm>
            <a:off x="7303787" y="4953461"/>
            <a:ext cx="340200" cy="2790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5"/>
          <p:cNvSpPr/>
          <p:nvPr/>
        </p:nvSpPr>
        <p:spPr>
          <a:xfrm>
            <a:off x="7251464" y="4889064"/>
            <a:ext cx="127500" cy="156900"/>
          </a:xfrm>
          <a:prstGeom prst="roundRect">
            <a:avLst>
              <a:gd fmla="val 35854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5"/>
          <p:cNvSpPr/>
          <p:nvPr/>
        </p:nvSpPr>
        <p:spPr>
          <a:xfrm>
            <a:off x="7995624" y="4743503"/>
            <a:ext cx="3786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Manrope"/>
              <a:buNone/>
            </a:pPr>
            <a:r>
              <a:rPr b="1" lang="en-US" sz="1650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Matching subjects and change type</a:t>
            </a:r>
            <a:endParaRPr b="1" i="0" sz="1650" u="none" cap="none" strike="noStrike">
              <a:solidFill>
                <a:srgbClr val="000000"/>
              </a:solidFill>
            </a:endParaRPr>
          </a:p>
        </p:txBody>
      </p:sp>
      <p:sp>
        <p:nvSpPr>
          <p:cNvPr id="240" name="Google Shape;240;p45"/>
          <p:cNvSpPr/>
          <p:nvPr/>
        </p:nvSpPr>
        <p:spPr>
          <a:xfrm>
            <a:off x="7995624" y="5099195"/>
            <a:ext cx="58410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Decides the type of change (numerical/mechanical) and saves it linked to the respective hero and ability.</a:t>
            </a:r>
            <a:endParaRPr sz="1300">
              <a:solidFill>
                <a:srgbClr val="5D5D5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45"/>
          <p:cNvSpPr/>
          <p:nvPr/>
        </p:nvSpPr>
        <p:spPr>
          <a:xfrm>
            <a:off x="7303795" y="6671934"/>
            <a:ext cx="340200" cy="2790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5"/>
          <p:cNvSpPr/>
          <p:nvPr/>
        </p:nvSpPr>
        <p:spPr>
          <a:xfrm>
            <a:off x="7251464" y="6607523"/>
            <a:ext cx="127500" cy="156900"/>
          </a:xfrm>
          <a:prstGeom prst="roundRect">
            <a:avLst>
              <a:gd fmla="val 35854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5"/>
          <p:cNvSpPr/>
          <p:nvPr/>
        </p:nvSpPr>
        <p:spPr>
          <a:xfrm>
            <a:off x="7251464" y="5780486"/>
            <a:ext cx="127500" cy="156900"/>
          </a:xfrm>
          <a:prstGeom prst="roundRect">
            <a:avLst>
              <a:gd fmla="val 35854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5"/>
          <p:cNvSpPr/>
          <p:nvPr/>
        </p:nvSpPr>
        <p:spPr>
          <a:xfrm>
            <a:off x="4508319" y="5622670"/>
            <a:ext cx="2126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Manrope"/>
              <a:buNone/>
            </a:pPr>
            <a:r>
              <a:rPr b="1" lang="en-US" sz="1650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Output</a:t>
            </a:r>
            <a:endParaRPr b="1" i="0" sz="1650" u="none" cap="none" strike="noStrike">
              <a:solidFill>
                <a:srgbClr val="000000"/>
              </a:solidFill>
            </a:endParaRPr>
          </a:p>
        </p:txBody>
      </p:sp>
      <p:sp>
        <p:nvSpPr>
          <p:cNvPr id="245" name="Google Shape;245;p45"/>
          <p:cNvSpPr/>
          <p:nvPr/>
        </p:nvSpPr>
        <p:spPr>
          <a:xfrm>
            <a:off x="793800" y="5978339"/>
            <a:ext cx="5841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300"/>
              <a:buFont typeface="Inter"/>
              <a:buNone/>
            </a:pPr>
            <a:r>
              <a:rPr lang="en-US" sz="130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Computes net value for numerical changes and outputs the mechanical changes in a </a:t>
            </a:r>
            <a:r>
              <a:rPr lang="en-US" sz="130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structured</a:t>
            </a:r>
            <a:r>
              <a:rPr lang="en-US" sz="130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 format.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5"/>
          <p:cNvSpPr/>
          <p:nvPr/>
        </p:nvSpPr>
        <p:spPr>
          <a:xfrm>
            <a:off x="7995624" y="6574836"/>
            <a:ext cx="3786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Manrope"/>
              <a:buNone/>
            </a:pPr>
            <a:r>
              <a:rPr b="1" lang="en-US" sz="1650">
                <a:solidFill>
                  <a:srgbClr val="5D5D5D"/>
                </a:solidFill>
                <a:highlight>
                  <a:srgbClr val="F4CCCC"/>
                </a:highlight>
                <a:latin typeface="Manrope"/>
                <a:ea typeface="Manrope"/>
                <a:cs typeface="Manrope"/>
                <a:sym typeface="Manrope"/>
              </a:rPr>
              <a:t>The Bottleneck</a:t>
            </a:r>
            <a:endParaRPr b="1" sz="1650">
              <a:solidFill>
                <a:srgbClr val="5D5D5D"/>
              </a:solidFill>
              <a:highlight>
                <a:srgbClr val="F4CCCC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7" name="Google Shape;247;p45"/>
          <p:cNvSpPr/>
          <p:nvPr/>
        </p:nvSpPr>
        <p:spPr>
          <a:xfrm>
            <a:off x="7995625" y="6938423"/>
            <a:ext cx="58410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Rule-based systems are brittle and struggle with new or unusual phrasing. While they can be precise on standard patch notes, they need constant manual updates as developers’ language evolves.</a:t>
            </a:r>
            <a:endParaRPr sz="1300">
              <a:solidFill>
                <a:srgbClr val="5D5D5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1538"/>
              </a:lnSpc>
              <a:spcBef>
                <a:spcPts val="1200"/>
              </a:spcBef>
              <a:spcAft>
                <a:spcPts val="0"/>
              </a:spcAft>
              <a:buClr>
                <a:srgbClr val="5D5D5D"/>
              </a:buClr>
              <a:buSzPts val="1300"/>
              <a:buFont typeface="Inter"/>
              <a:buNone/>
            </a:pPr>
            <a:r>
              <a:t/>
            </a:r>
            <a:endParaRPr sz="1300">
              <a:solidFill>
                <a:srgbClr val="5D5D5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preencoded.png" id="248" name="Google Shape;248;p45"/>
          <p:cNvPicPr preferRelativeResize="0"/>
          <p:nvPr/>
        </p:nvPicPr>
        <p:blipFill rotWithShape="1">
          <a:blip r:embed="rId3">
            <a:alphaModFix/>
          </a:blip>
          <a:srcRect b="94411" l="0" r="0" t="0"/>
          <a:stretch/>
        </p:blipFill>
        <p:spPr>
          <a:xfrm>
            <a:off x="0" y="0"/>
            <a:ext cx="14630400" cy="45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/>
          <p:nvPr/>
        </p:nvSpPr>
        <p:spPr>
          <a:xfrm>
            <a:off x="793800" y="637825"/>
            <a:ext cx="1422600" cy="459600"/>
          </a:xfrm>
          <a:prstGeom prst="roundRect">
            <a:avLst>
              <a:gd fmla="val 3647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167525" lIns="167525" spcFirstLastPara="1" rIns="167525" wrap="square" tIns="167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5"/>
              <a:buFont typeface="Arial"/>
              <a:buNone/>
            </a:pPr>
            <a:r>
              <a:t/>
            </a:r>
            <a:endParaRPr b="0" i="0" sz="256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6"/>
          <p:cNvSpPr/>
          <p:nvPr/>
        </p:nvSpPr>
        <p:spPr>
          <a:xfrm>
            <a:off x="980759" y="731196"/>
            <a:ext cx="1048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924"/>
              <a:buFont typeface="Inter"/>
              <a:buNone/>
            </a:pPr>
            <a:r>
              <a:rPr b="0" i="0" lang="en-US" sz="1924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PHASE 2</a:t>
            </a:r>
            <a:endParaRPr b="0" i="0" sz="19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6"/>
          <p:cNvSpPr/>
          <p:nvPr/>
        </p:nvSpPr>
        <p:spPr>
          <a:xfrm>
            <a:off x="793790" y="1148239"/>
            <a:ext cx="5493306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3300"/>
              <a:buFont typeface="Manrope"/>
              <a:buNone/>
            </a:pPr>
            <a:r>
              <a:rPr b="0" i="0" lang="en-US" sz="3300" u="none" cap="none" strike="noStrike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Transformer Bootstrapping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6"/>
          <p:cNvSpPr/>
          <p:nvPr/>
        </p:nvSpPr>
        <p:spPr>
          <a:xfrm>
            <a:off x="793790" y="1764863"/>
            <a:ext cx="13042821" cy="185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To ensure long-term robustness, the system uses the rule-based output as an automated distant-supervision annotator to fine-tune a deep learning model.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6"/>
          <p:cNvSpPr/>
          <p:nvPr/>
        </p:nvSpPr>
        <p:spPr>
          <a:xfrm>
            <a:off x="793790" y="2094309"/>
            <a:ext cx="4262557" cy="1202293"/>
          </a:xfrm>
          <a:prstGeom prst="roundRect">
            <a:avLst>
              <a:gd fmla="val 761" name="adj"/>
            </a:avLst>
          </a:prstGeom>
          <a:solidFill>
            <a:srgbClr val="00332A"/>
          </a:solidFill>
          <a:ln cap="flat" cmpd="sng" w="9525">
            <a:solidFill>
              <a:srgbClr val="194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6"/>
          <p:cNvSpPr/>
          <p:nvPr/>
        </p:nvSpPr>
        <p:spPr>
          <a:xfrm>
            <a:off x="971431" y="2271951"/>
            <a:ext cx="2126456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Distant Supervision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46"/>
          <p:cNvSpPr/>
          <p:nvPr/>
        </p:nvSpPr>
        <p:spPr>
          <a:xfrm>
            <a:off x="971431" y="2561034"/>
            <a:ext cx="3907274" cy="55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Rule-based output automatically labels a large dataset, circumventing the prohibitive costs of manual annotation entirely.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6"/>
          <p:cNvSpPr/>
          <p:nvPr/>
        </p:nvSpPr>
        <p:spPr>
          <a:xfrm>
            <a:off x="5183862" y="2094309"/>
            <a:ext cx="4262557" cy="1202293"/>
          </a:xfrm>
          <a:prstGeom prst="roundRect">
            <a:avLst>
              <a:gd fmla="val 761" name="adj"/>
            </a:avLst>
          </a:prstGeom>
          <a:solidFill>
            <a:srgbClr val="00332A"/>
          </a:solidFill>
          <a:ln cap="flat" cmpd="sng" w="9525">
            <a:solidFill>
              <a:srgbClr val="194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6"/>
          <p:cNvSpPr/>
          <p:nvPr/>
        </p:nvSpPr>
        <p:spPr>
          <a:xfrm>
            <a:off x="5361500" y="2271950"/>
            <a:ext cx="24099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RoBERTa Fine-Tuning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6"/>
          <p:cNvSpPr/>
          <p:nvPr/>
        </p:nvSpPr>
        <p:spPr>
          <a:xfrm>
            <a:off x="5361503" y="2561034"/>
            <a:ext cx="3907274" cy="55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RoBERTa-base transformer is fine-tuned on the automatically annotated corpus for robust sequence labeling.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6"/>
          <p:cNvSpPr/>
          <p:nvPr/>
        </p:nvSpPr>
        <p:spPr>
          <a:xfrm>
            <a:off x="9573935" y="2094309"/>
            <a:ext cx="4262557" cy="1202293"/>
          </a:xfrm>
          <a:prstGeom prst="roundRect">
            <a:avLst>
              <a:gd fmla="val 761" name="adj"/>
            </a:avLst>
          </a:prstGeom>
          <a:solidFill>
            <a:srgbClr val="00332A"/>
          </a:solidFill>
          <a:ln cap="flat" cmpd="sng" w="9525">
            <a:solidFill>
              <a:srgbClr val="194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6"/>
          <p:cNvSpPr/>
          <p:nvPr/>
        </p:nvSpPr>
        <p:spPr>
          <a:xfrm>
            <a:off x="9751576" y="2271951"/>
            <a:ext cx="2625328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Multi-Head Self-Attention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6"/>
          <p:cNvSpPr/>
          <p:nvPr/>
        </p:nvSpPr>
        <p:spPr>
          <a:xfrm>
            <a:off x="9751576" y="2561034"/>
            <a:ext cx="3907274" cy="557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Unlike linear models with limited windows, the transformer learns deep contextual embeddings via multi-head self-attention.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6"/>
          <p:cNvSpPr/>
          <p:nvPr/>
        </p:nvSpPr>
        <p:spPr>
          <a:xfrm>
            <a:off x="793790" y="3424118"/>
            <a:ext cx="13042702" cy="830342"/>
          </a:xfrm>
          <a:prstGeom prst="roundRect">
            <a:avLst>
              <a:gd fmla="val 1101" name="adj"/>
            </a:avLst>
          </a:prstGeom>
          <a:solidFill>
            <a:srgbClr val="00332A"/>
          </a:solidFill>
          <a:ln cap="flat" cmpd="sng" w="9525">
            <a:solidFill>
              <a:srgbClr val="194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6"/>
          <p:cNvSpPr/>
          <p:nvPr/>
        </p:nvSpPr>
        <p:spPr>
          <a:xfrm>
            <a:off x="971431" y="3601760"/>
            <a:ext cx="2502813" cy="21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Manrop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Syntactic Generalization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6"/>
          <p:cNvSpPr/>
          <p:nvPr/>
        </p:nvSpPr>
        <p:spPr>
          <a:xfrm>
            <a:off x="971431" y="3890843"/>
            <a:ext cx="12687419" cy="185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5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model generalizes seamlessly to unforeseen syntactic structures that defeat brittle rule-based heuristics.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0" name="Google Shape;27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3787" y="4397931"/>
            <a:ext cx="5462707" cy="2985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6"/>
          <p:cNvSpPr/>
          <p:nvPr/>
        </p:nvSpPr>
        <p:spPr>
          <a:xfrm>
            <a:off x="5361501" y="5727713"/>
            <a:ext cx="1265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050"/>
              <a:buFont typeface="Manrope"/>
              <a:buNone/>
            </a:pPr>
            <a:r>
              <a:rPr b="0" i="0" lang="en-US" sz="1050" u="none" cap="none" strike="noStrike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Rule‑Based spaCy NER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6"/>
          <p:cNvSpPr/>
          <p:nvPr/>
        </p:nvSpPr>
        <p:spPr>
          <a:xfrm>
            <a:off x="8500300" y="5747894"/>
            <a:ext cx="12657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050"/>
              <a:buFont typeface="Manrope"/>
              <a:buNone/>
            </a:pPr>
            <a:r>
              <a:rPr lang="en-US" sz="1050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RoBERTa Fine‑Tuning</a:t>
            </a:r>
            <a:endParaRPr sz="105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050"/>
              <a:buFont typeface="Manrope"/>
              <a:buNone/>
            </a:pPr>
            <a:r>
              <a:t/>
            </a:r>
            <a:endParaRPr sz="1050">
              <a:solidFill>
                <a:srgbClr val="050505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3" name="Google Shape;273;p46"/>
          <p:cNvSpPr/>
          <p:nvPr/>
        </p:nvSpPr>
        <p:spPr>
          <a:xfrm>
            <a:off x="6965384" y="5785560"/>
            <a:ext cx="12657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050"/>
              <a:buFont typeface="Manrope"/>
              <a:buNone/>
            </a:pPr>
            <a:r>
              <a:rPr lang="en-US" sz="1050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Auto-Labeled Data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4" name="Google Shape;274;p46"/>
          <p:cNvPicPr preferRelativeResize="0"/>
          <p:nvPr/>
        </p:nvPicPr>
        <p:blipFill rotWithShape="1">
          <a:blip r:embed="rId4">
            <a:alphaModFix/>
          </a:blip>
          <a:srcRect b="94411" l="0" r="0" t="0"/>
          <a:stretch/>
        </p:blipFill>
        <p:spPr>
          <a:xfrm>
            <a:off x="-62" y="7769675"/>
            <a:ext cx="14630400" cy="45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0" name="Google Shape;28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7"/>
          <p:cNvSpPr/>
          <p:nvPr/>
        </p:nvSpPr>
        <p:spPr>
          <a:xfrm>
            <a:off x="6280190" y="875467"/>
            <a:ext cx="960953" cy="316349"/>
          </a:xfrm>
          <a:prstGeom prst="roundRect">
            <a:avLst>
              <a:gd fmla="val 2890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7"/>
          <p:cNvSpPr/>
          <p:nvPr/>
        </p:nvSpPr>
        <p:spPr>
          <a:xfrm>
            <a:off x="6402586" y="936665"/>
            <a:ext cx="716161" cy="193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RESULTS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7"/>
          <p:cNvSpPr/>
          <p:nvPr/>
        </p:nvSpPr>
        <p:spPr>
          <a:xfrm>
            <a:off x="6280190" y="1265277"/>
            <a:ext cx="5103614" cy="510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4000"/>
              <a:buFont typeface="Manrope"/>
              <a:buNone/>
            </a:pPr>
            <a:r>
              <a:rPr b="0" i="0" lang="en-US" sz="4000" u="none" cap="none" strike="noStrike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Evaluation &amp; Results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7"/>
          <p:cNvSpPr/>
          <p:nvPr/>
        </p:nvSpPr>
        <p:spPr>
          <a:xfrm>
            <a:off x="6280200" y="2051198"/>
            <a:ext cx="75564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The models were validated against a </a:t>
            </a:r>
            <a:r>
              <a:rPr lang="en-US" sz="160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chronological Train/Dev/Test split, utilizing a holdout set of 2026 patch notes to test robust generalization.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7"/>
          <p:cNvSpPr/>
          <p:nvPr/>
        </p:nvSpPr>
        <p:spPr>
          <a:xfrm>
            <a:off x="10046970" y="2742724"/>
            <a:ext cx="22860" cy="4611291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7"/>
          <p:cNvSpPr/>
          <p:nvPr/>
        </p:nvSpPr>
        <p:spPr>
          <a:xfrm>
            <a:off x="9468922" y="3731657"/>
            <a:ext cx="612338" cy="2286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7"/>
          <p:cNvSpPr/>
          <p:nvPr/>
        </p:nvSpPr>
        <p:spPr>
          <a:xfrm>
            <a:off x="9981902" y="3666589"/>
            <a:ext cx="152995" cy="152995"/>
          </a:xfrm>
          <a:prstGeom prst="roundRect">
            <a:avLst>
              <a:gd fmla="val 29883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7"/>
          <p:cNvSpPr/>
          <p:nvPr/>
        </p:nvSpPr>
        <p:spPr>
          <a:xfrm>
            <a:off x="6280190" y="2742724"/>
            <a:ext cx="3165872" cy="2000726"/>
          </a:xfrm>
          <a:prstGeom prst="roundRect">
            <a:avLst>
              <a:gd fmla="val 457" name="adj"/>
            </a:avLst>
          </a:prstGeom>
          <a:solidFill>
            <a:srgbClr val="00332A"/>
          </a:solidFill>
          <a:ln cap="flat" cmpd="sng" w="9525">
            <a:solidFill>
              <a:srgbClr val="003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7"/>
          <p:cNvSpPr/>
          <p:nvPr/>
        </p:nvSpPr>
        <p:spPr>
          <a:xfrm>
            <a:off x="6625709" y="2954417"/>
            <a:ext cx="2608659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nrop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Rule-Based Baseline: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7"/>
          <p:cNvSpPr/>
          <p:nvPr/>
        </p:nvSpPr>
        <p:spPr>
          <a:xfrm>
            <a:off x="6491883" y="3319701"/>
            <a:ext cx="2742486" cy="1212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Used heavily-engineered heuristics to automatically annotate 2,375 training examples from 2016–2025.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7"/>
          <p:cNvSpPr/>
          <p:nvPr/>
        </p:nvSpPr>
        <p:spPr>
          <a:xfrm>
            <a:off x="10035540" y="4915614"/>
            <a:ext cx="612338" cy="2286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7"/>
          <p:cNvSpPr/>
          <p:nvPr/>
        </p:nvSpPr>
        <p:spPr>
          <a:xfrm>
            <a:off x="9981902" y="4850547"/>
            <a:ext cx="152995" cy="152995"/>
          </a:xfrm>
          <a:prstGeom prst="roundRect">
            <a:avLst>
              <a:gd fmla="val 29883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7"/>
          <p:cNvSpPr/>
          <p:nvPr/>
        </p:nvSpPr>
        <p:spPr>
          <a:xfrm>
            <a:off x="10670750" y="3414875"/>
            <a:ext cx="3165900" cy="3117600"/>
          </a:xfrm>
          <a:prstGeom prst="roundRect">
            <a:avLst>
              <a:gd fmla="val 457" name="adj"/>
            </a:avLst>
          </a:prstGeom>
          <a:solidFill>
            <a:srgbClr val="00332A"/>
          </a:solidFill>
          <a:ln cap="flat" cmpd="sng" w="9525">
            <a:solidFill>
              <a:srgbClr val="003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7"/>
          <p:cNvSpPr/>
          <p:nvPr/>
        </p:nvSpPr>
        <p:spPr>
          <a:xfrm>
            <a:off x="10882425" y="3615500"/>
            <a:ext cx="27426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nrop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Fine-Tuned RoBERTa: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7"/>
          <p:cNvSpPr/>
          <p:nvPr/>
        </p:nvSpPr>
        <p:spPr>
          <a:xfrm>
            <a:off x="10882425" y="4068199"/>
            <a:ext cx="27426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Evaluated on 156 unseen modern patch lines, achieving an 89.23% Overall F1-Score.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HERO: 93.84% F1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ABILITY: 90.23% F1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STAT: 77.55% F1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47"/>
          <p:cNvSpPr/>
          <p:nvPr/>
        </p:nvSpPr>
        <p:spPr>
          <a:xfrm>
            <a:off x="9468922" y="6221016"/>
            <a:ext cx="612338" cy="22860"/>
          </a:xfrm>
          <a:prstGeom prst="roundRect">
            <a:avLst>
              <a:gd fmla="val 40000" name="adj"/>
            </a:avLst>
          </a:prstGeom>
          <a:solidFill>
            <a:srgbClr val="194C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7"/>
          <p:cNvSpPr/>
          <p:nvPr/>
        </p:nvSpPr>
        <p:spPr>
          <a:xfrm>
            <a:off x="9981902" y="6155948"/>
            <a:ext cx="152995" cy="152995"/>
          </a:xfrm>
          <a:prstGeom prst="roundRect">
            <a:avLst>
              <a:gd fmla="val 298833" name="adj"/>
            </a:avLst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7"/>
          <p:cNvSpPr/>
          <p:nvPr/>
        </p:nvSpPr>
        <p:spPr>
          <a:xfrm>
            <a:off x="6280190" y="5110877"/>
            <a:ext cx="3165872" cy="2243138"/>
          </a:xfrm>
          <a:prstGeom prst="roundRect">
            <a:avLst>
              <a:gd fmla="val 408" name="adj"/>
            </a:avLst>
          </a:prstGeom>
          <a:solidFill>
            <a:srgbClr val="00332A"/>
          </a:solidFill>
          <a:ln cap="flat" cmpd="sng" w="9525">
            <a:solidFill>
              <a:srgbClr val="003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7"/>
          <p:cNvSpPr/>
          <p:nvPr/>
        </p:nvSpPr>
        <p:spPr>
          <a:xfrm>
            <a:off x="6682621" y="5322570"/>
            <a:ext cx="2551748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Manrope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Takeaway: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7"/>
          <p:cNvSpPr/>
          <p:nvPr/>
        </p:nvSpPr>
        <p:spPr>
          <a:xfrm>
            <a:off x="6491883" y="5687854"/>
            <a:ext cx="2742486" cy="1454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Deterministic rule-sets can successfully bootstrap robust deep learning language models for metadata extraction in gaming.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/>
          <p:nvPr/>
        </p:nvSpPr>
        <p:spPr>
          <a:xfrm>
            <a:off x="793790" y="1365528"/>
            <a:ext cx="2031087" cy="362783"/>
          </a:xfrm>
          <a:prstGeom prst="roundRect">
            <a:avLst>
              <a:gd fmla="val 2521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8"/>
          <p:cNvSpPr/>
          <p:nvPr/>
        </p:nvSpPr>
        <p:spPr>
          <a:xfrm>
            <a:off x="929878" y="1433512"/>
            <a:ext cx="175891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CRITICAL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8"/>
          <p:cNvSpPr/>
          <p:nvPr/>
        </p:nvSpPr>
        <p:spPr>
          <a:xfrm>
            <a:off x="793790" y="1819037"/>
            <a:ext cx="5670590" cy="56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4450"/>
              <a:buFont typeface="Manrope"/>
              <a:buNone/>
            </a:pPr>
            <a:r>
              <a:rPr b="0" i="0" lang="en-US" sz="4450" u="none" cap="none" strike="noStrike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Limitations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8"/>
          <p:cNvSpPr/>
          <p:nvPr/>
        </p:nvSpPr>
        <p:spPr>
          <a:xfrm>
            <a:off x="793790" y="2726293"/>
            <a:ext cx="13042821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Understanding the constraints of the current pipeline is essential for guiding future improvements and managing expectations.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8"/>
          <p:cNvSpPr/>
          <p:nvPr/>
        </p:nvSpPr>
        <p:spPr>
          <a:xfrm>
            <a:off x="793790" y="3548420"/>
            <a:ext cx="4196358" cy="3315533"/>
          </a:xfrm>
          <a:prstGeom prst="roundRect">
            <a:avLst>
              <a:gd fmla="val 276" name="adj"/>
            </a:avLst>
          </a:prstGeom>
          <a:solidFill>
            <a:srgbClr val="FFFFFF"/>
          </a:solidFill>
          <a:ln cap="flat" cmpd="sng" w="30475">
            <a:solidFill>
              <a:srgbClr val="003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8"/>
          <p:cNvSpPr/>
          <p:nvPr/>
        </p:nvSpPr>
        <p:spPr>
          <a:xfrm>
            <a:off x="824270" y="3578900"/>
            <a:ext cx="4135398" cy="680442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2" name="Google Shape;31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888" y="3745230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8"/>
          <p:cNvSpPr/>
          <p:nvPr/>
        </p:nvSpPr>
        <p:spPr>
          <a:xfrm>
            <a:off x="1051084" y="4486156"/>
            <a:ext cx="2835235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200"/>
              <a:buFont typeface="Manrope"/>
              <a:buNone/>
            </a:pPr>
            <a:r>
              <a:rPr b="0" i="0" lang="en-US" sz="22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Propagated Bias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8"/>
          <p:cNvSpPr/>
          <p:nvPr/>
        </p:nvSpPr>
        <p:spPr>
          <a:xfrm>
            <a:off x="1051084" y="4905732"/>
            <a:ext cx="3681770" cy="1700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rPr b="0" i="0" lang="en-US" sz="16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Because training data is automatically annotated, any recurring false positives or biases in the rule-based heuristics inevitably propagate to the transformer model.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8"/>
          <p:cNvSpPr/>
          <p:nvPr/>
        </p:nvSpPr>
        <p:spPr>
          <a:xfrm>
            <a:off x="5216962" y="3548420"/>
            <a:ext cx="4196358" cy="3315533"/>
          </a:xfrm>
          <a:prstGeom prst="roundRect">
            <a:avLst>
              <a:gd fmla="val 276" name="adj"/>
            </a:avLst>
          </a:prstGeom>
          <a:solidFill>
            <a:srgbClr val="FFFFFF"/>
          </a:solidFill>
          <a:ln cap="flat" cmpd="sng" w="30475">
            <a:solidFill>
              <a:srgbClr val="003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8"/>
          <p:cNvSpPr/>
          <p:nvPr/>
        </p:nvSpPr>
        <p:spPr>
          <a:xfrm>
            <a:off x="5247442" y="3578900"/>
            <a:ext cx="4135398" cy="680442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7" name="Google Shape;31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5060" y="3745230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8"/>
          <p:cNvSpPr/>
          <p:nvPr/>
        </p:nvSpPr>
        <p:spPr>
          <a:xfrm>
            <a:off x="5339475" y="4486150"/>
            <a:ext cx="4043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200"/>
              <a:buFont typeface="Manrope"/>
              <a:buNone/>
            </a:pPr>
            <a:r>
              <a:rPr lang="en-US" sz="2200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Boundary Friction (STAT drop)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8"/>
          <p:cNvSpPr/>
          <p:nvPr/>
        </p:nvSpPr>
        <p:spPr>
          <a:xfrm>
            <a:off x="5339475" y="4905725"/>
            <a:ext cx="3958500" cy="18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rPr lang="en-US" sz="1650">
                <a:solidFill>
                  <a:srgbClr val="5D5D5D"/>
                </a:solidFill>
              </a:rPr>
              <a:t>This bias directly caused the lower </a:t>
            </a:r>
            <a:r>
              <a:rPr lang="en-US" sz="1650">
                <a:solidFill>
                  <a:srgbClr val="5D5D5D"/>
                </a:solidFill>
                <a:latin typeface="Roboto Mono"/>
                <a:ea typeface="Roboto Mono"/>
                <a:cs typeface="Roboto Mono"/>
                <a:sym typeface="Roboto Mono"/>
              </a:rPr>
              <a:t>STAT</a:t>
            </a:r>
            <a:r>
              <a:rPr lang="en-US" sz="1650">
                <a:solidFill>
                  <a:srgbClr val="5D5D5D"/>
                </a:solidFill>
              </a:rPr>
              <a:t> performance (77.55% F1). The rule-based parser aggressively infers long, complex stat strings, whereas the Transformer learned stricter, tighter token boundaries, causing partial evaluation mismatches. </a:t>
            </a:r>
            <a:endParaRPr b="0" i="0" sz="1650" u="none" cap="none" strike="noStrike">
              <a:solidFill>
                <a:srgbClr val="5D5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8"/>
          <p:cNvSpPr/>
          <p:nvPr/>
        </p:nvSpPr>
        <p:spPr>
          <a:xfrm>
            <a:off x="9640133" y="3548420"/>
            <a:ext cx="4196358" cy="3315533"/>
          </a:xfrm>
          <a:prstGeom prst="roundRect">
            <a:avLst>
              <a:gd fmla="val 276" name="adj"/>
            </a:avLst>
          </a:prstGeom>
          <a:solidFill>
            <a:srgbClr val="FFFFFF"/>
          </a:solidFill>
          <a:ln cap="flat" cmpd="sng" w="30475">
            <a:solidFill>
              <a:srgbClr val="003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8"/>
          <p:cNvSpPr/>
          <p:nvPr/>
        </p:nvSpPr>
        <p:spPr>
          <a:xfrm>
            <a:off x="9670613" y="3578900"/>
            <a:ext cx="4135398" cy="680442"/>
          </a:xfrm>
          <a:prstGeom prst="rect">
            <a:avLst/>
          </a:prstGeom>
          <a:solidFill>
            <a:srgbClr val="003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2" name="Google Shape;32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68232" y="3745230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8"/>
          <p:cNvSpPr/>
          <p:nvPr/>
        </p:nvSpPr>
        <p:spPr>
          <a:xfrm>
            <a:off x="9897427" y="4486156"/>
            <a:ext cx="2835235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200"/>
              <a:buFont typeface="Manrope"/>
              <a:buNone/>
            </a:pPr>
            <a:r>
              <a:rPr b="0" i="0" lang="en-US" sz="22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Format Dependency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8"/>
          <p:cNvSpPr/>
          <p:nvPr/>
        </p:nvSpPr>
        <p:spPr>
          <a:xfrm>
            <a:off x="9897425" y="4905724"/>
            <a:ext cx="3681900" cy="18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750"/>
              <a:buFont typeface="Inter"/>
              <a:buNone/>
            </a:pPr>
            <a:r>
              <a:rPr lang="en-US" sz="1650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The pipeline relies heavily on the structural formatting of current Fandom wikis. A radical shift in how patches are documented upstream would require refactoring the initial web scrapers. 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5" name="Google Shape;325;p48"/>
          <p:cNvPicPr preferRelativeResize="0"/>
          <p:nvPr/>
        </p:nvPicPr>
        <p:blipFill rotWithShape="1">
          <a:blip r:embed="rId6">
            <a:alphaModFix/>
          </a:blip>
          <a:srcRect b="94411" l="0" r="0" t="0"/>
          <a:stretch/>
        </p:blipFill>
        <p:spPr>
          <a:xfrm>
            <a:off x="0" y="0"/>
            <a:ext cx="14630400" cy="45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1" name="Google Shape;33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9"/>
          <p:cNvSpPr/>
          <p:nvPr/>
        </p:nvSpPr>
        <p:spPr>
          <a:xfrm>
            <a:off x="272125" y="0"/>
            <a:ext cx="14358300" cy="79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3" name="Google Shape;33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9"/>
          <p:cNvSpPr/>
          <p:nvPr/>
        </p:nvSpPr>
        <p:spPr>
          <a:xfrm>
            <a:off x="793790" y="688062"/>
            <a:ext cx="1122900" cy="339000"/>
          </a:xfrm>
          <a:prstGeom prst="roundRect">
            <a:avLst>
              <a:gd fmla="val 2697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9"/>
          <p:cNvSpPr/>
          <p:nvPr/>
        </p:nvSpPr>
        <p:spPr>
          <a:xfrm>
            <a:off x="922975" y="752600"/>
            <a:ext cx="9483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ROADMAP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9"/>
          <p:cNvSpPr/>
          <p:nvPr/>
        </p:nvSpPr>
        <p:spPr>
          <a:xfrm>
            <a:off x="793790" y="1108948"/>
            <a:ext cx="5387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4200"/>
              <a:buFont typeface="Manrope"/>
              <a:buNone/>
            </a:pPr>
            <a:r>
              <a:rPr b="0" i="0" lang="en-US" sz="4200" u="none" cap="none" strike="noStrike">
                <a:solidFill>
                  <a:srgbClr val="050505"/>
                </a:solidFill>
                <a:latin typeface="Manrope"/>
                <a:ea typeface="Manrope"/>
                <a:cs typeface="Manrope"/>
                <a:sym typeface="Manrope"/>
              </a:rPr>
              <a:t>Future Work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9"/>
          <p:cNvSpPr/>
          <p:nvPr/>
        </p:nvSpPr>
        <p:spPr>
          <a:xfrm>
            <a:off x="793790" y="1954768"/>
            <a:ext cx="7556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Three promising directions for extending Meta Shift into a more powerful and verifiable game analytics system.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8" name="Google Shape;33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2710101"/>
            <a:ext cx="1077397" cy="139505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9"/>
          <p:cNvSpPr/>
          <p:nvPr/>
        </p:nvSpPr>
        <p:spPr>
          <a:xfrm>
            <a:off x="2075855" y="2710101"/>
            <a:ext cx="2693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LLM Integration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/>
          <p:nvPr/>
        </p:nvSpPr>
        <p:spPr>
          <a:xfrm>
            <a:off x="2075855" y="3102173"/>
            <a:ext cx="6274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Transition from token-level NER to high-parameter Large Language Models (LLMs) like LLaMA 3 or GPT-4 for richer extraction capabilities.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1" name="Google Shape;341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4320540"/>
            <a:ext cx="1077397" cy="139505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9"/>
          <p:cNvSpPr/>
          <p:nvPr/>
        </p:nvSpPr>
        <p:spPr>
          <a:xfrm>
            <a:off x="2075855" y="4320540"/>
            <a:ext cx="2693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Instruction Tuning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9"/>
          <p:cNvSpPr/>
          <p:nvPr/>
        </p:nvSpPr>
        <p:spPr>
          <a:xfrm>
            <a:off x="2075855" y="4712613"/>
            <a:ext cx="6274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Generate natural language summaries about macro-level game trend consequences rather than just span extraction from raw patch text.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4" name="Google Shape;344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5930979"/>
            <a:ext cx="1077397" cy="139505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9"/>
          <p:cNvSpPr/>
          <p:nvPr/>
        </p:nvSpPr>
        <p:spPr>
          <a:xfrm>
            <a:off x="2075855" y="5930979"/>
            <a:ext cx="27165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100"/>
              <a:buFont typeface="Manrope"/>
              <a:buNone/>
            </a:pPr>
            <a:r>
              <a:rPr b="0" i="0" lang="en-US" sz="2100" u="none" cap="none" strike="noStrike">
                <a:solidFill>
                  <a:srgbClr val="5D5D5D"/>
                </a:solidFill>
                <a:latin typeface="Manrope"/>
                <a:ea typeface="Manrope"/>
                <a:cs typeface="Manrope"/>
                <a:sym typeface="Manrope"/>
              </a:rPr>
              <a:t>Empirical Verification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9"/>
          <p:cNvSpPr/>
          <p:nvPr/>
        </p:nvSpPr>
        <p:spPr>
          <a:xfrm>
            <a:off x="2075855" y="6323052"/>
            <a:ext cx="62745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5D5D5D"/>
                </a:solidFill>
                <a:latin typeface="Inter"/>
                <a:ea typeface="Inter"/>
                <a:cs typeface="Inter"/>
                <a:sym typeface="Inter"/>
              </a:rPr>
              <a:t>Correlate extracted patch data with historical player win-rate datasets to map patch text to actual measurable shifts in the game's meta.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